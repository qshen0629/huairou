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页｜谁在说话？</a:t>
            </a:r>
          </a:p>
          <a:p>
            <a:r>
              <a:t>建议用时：1 分钟</a:t>
            </a:r>
          </a:p>
          <a:p/>
          <a:p>
            <a:r>
              <a:t>开场：大家好，今天我们一起拆一个科技魔术——让我的声音和照片变成一个数字分身。接下来会出现合成片段，我们猜完就揭晓。</a:t>
            </a:r>
          </a:p>
          <a:p>
            <a:r>
              <a:t>提问：屏幕里的人长得像我、声音也像我，就一定是我本人说的吗？先不公布答案。</a:t>
            </a:r>
          </a:p>
          <a:p>
            <a:r>
              <a:t>课堂目标：能说清声音合成与人像动画的基本输入输出；能接受证据不足；能给出一种独立核实方式。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页｜今天，我们来当科技小侦探</a:t>
            </a:r>
          </a:p>
          <a:p>
            <a:r>
              <a:t>建议用时：1 分钟</a:t>
            </a:r>
          </a:p>
          <a:p/>
          <a:p>
            <a:r>
              <a:t>请学生记住三项任务：先猜，再拆解，最后核实。猜错很正常，可以回答‘目前还不知道’。</a:t>
            </a:r>
          </a:p>
          <a:p>
            <a:r>
              <a:t>提醒：我们展示老师自己的素材，不收集同学的照片和声音。</a:t>
            </a:r>
          </a:p>
          <a:p>
            <a:r>
              <a:t>串场：第一关先关掉画面，只用耳朵。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页｜只听声音，你选哪一段？</a:t>
            </a:r>
          </a:p>
          <a:p>
            <a:r>
              <a:t>建议用时：3 分钟</a:t>
            </a:r>
          </a:p>
          <a:p/>
          <a:p>
            <a:r>
              <a:t>课前：在 A 框插入 teacher_real.wav，在 B 框插入 01_voice_ai.wav，二者台词相同，音量接近。此页模板尚未嵌入音频。</a:t>
            </a:r>
          </a:p>
          <a:p>
            <a:r>
              <a:t>播放顺序：A、B，各 5–10 秒，必要时重放一轮。全班举手选择：A 是原声 / B 是原声 / 证据不足。</a:t>
            </a:r>
          </a:p>
          <a:p>
            <a:r>
              <a:t>邀请两位学生解释依据，比如停顿、音色、呼吸。不要评价谁聪明或谁被骗。</a:t>
            </a:r>
          </a:p>
          <a:p>
            <a:r>
              <a:t>注意：有模型合成标识不是身份认证。这轮已经告知包含合成，下一页立即揭晓。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页｜揭晓：相似的声音可以生成</a:t>
            </a:r>
          </a:p>
          <a:p>
            <a:r>
              <a:t>建议用时：2 分钟</a:t>
            </a:r>
          </a:p>
          <a:p/>
          <a:p>
            <a:r>
              <a:t>答案固定为 A 原声、B 合成。若你在上一页交换了媒体顺序，务必同步更改本页答案。</a:t>
            </a:r>
          </a:p>
          <a:p>
            <a:r>
              <a:t>讲解：B 的台词不是从我的原声测试录音里剪出来的。模型参考一小段声音和对应文字，再根据新台词生成新的声音。</a:t>
            </a:r>
          </a:p>
          <a:p>
            <a:r>
              <a:t>如果学生猜中，追问：这只能说明你发现了这次生成的一些线索。如果下一次更自然呢？</a:t>
            </a:r>
          </a:p>
          <a:p>
            <a:r>
              <a:t>可选现场操作：预先加载模型，输入一句学生建议的无害短台词。等待超过约 20 秒就播放课前成片，不把 20 秒说成生成速度保证。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页｜第二关：一张照片，开口了</a:t>
            </a:r>
          </a:p>
          <a:p>
            <a:r>
              <a:t>建议用时：3 分钟</a:t>
            </a:r>
          </a:p>
          <a:p/>
          <a:p>
            <a:r>
              <a:t>课前：左框换成你自己的 teacher.jpg，右框嵌入 02_talking_ai.mp4。本模板只有占位框。</a:t>
            </a:r>
          </a:p>
          <a:p>
            <a:r>
              <a:t>先展示静态照片，问：只有一张照片，能拍成刚才这样的说话视频吗？播放 5–10 秒成片，保留持续合成标识。</a:t>
            </a:r>
          </a:p>
          <a:p>
            <a:r>
              <a:t>请学生猜输入。揭晓：一张老师的照片 + 合成好的音频，由 SadTalker 生成说话动作与逐帧画面。</a:t>
            </a:r>
          </a:p>
          <a:p>
            <a:r>
              <a:t>解释：这是声音驱动的人像动画。它并没有证明我在那个时间、那个地点说过这句话。</a:t>
            </a:r>
          </a:p>
          <a:p>
            <a:r>
              <a:t>Mac 现场不等待视频生成。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页｜第三关：你点头，照片也点头</a:t>
            </a:r>
          </a:p>
          <a:p>
            <a:r>
              <a:t>建议用时：2 分钟</a:t>
            </a:r>
          </a:p>
          <a:p/>
          <a:p>
            <a:r>
              <a:t>扩展示范：播放 LivePortrait 的 03_motion_ai.mp4，对照输入照片、驱动动作与生成结果。没有准备此素材，可以跳过本页，把两分钟留给讨论。</a:t>
            </a:r>
          </a:p>
          <a:p>
            <a:r>
              <a:t>先问学生：这次是声音在指挥嘴，还是动作视频在指挥表情？</a:t>
            </a:r>
          </a:p>
          <a:p>
            <a:r>
              <a:t>说明边界：LivePortrait 把动作/表情迁移到肖像，不会凭 F5-TTS 的新音频自动做匹配口型。不要只把两者混音后当作完成对口型。</a:t>
            </a:r>
          </a:p>
          <a:p>
            <a:r>
              <a:t>首帧正面自然表情，动作控制在点头、微笑或眨眼；展示本人已授权素材。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页｜拆开魔术：两条合成流水线</a:t>
            </a:r>
          </a:p>
          <a:p>
            <a:r>
              <a:t>建议用时：3 分钟</a:t>
            </a:r>
          </a:p>
          <a:p/>
          <a:p>
            <a:r>
              <a:t>请三位学生依次说出第一条流水线的材料：参考声音、参考逐字稿、新台词。模型输出一段新声音。</a:t>
            </a:r>
          </a:p>
          <a:p>
            <a:r>
              <a:t>第二条流水线用老师照片和这段声音，生成会说话的视频。把学生的答案逐步指到图上。</a:t>
            </a:r>
          </a:p>
          <a:p>
            <a:r>
              <a:t>重要区分：上课演示的是调用已经训练好的模型做推理。我们不是用十秒钟从头训练了一个懂所有声音的模型。</a:t>
            </a:r>
          </a:p>
          <a:p>
            <a:r>
              <a:t>追问：视频里每个组成部分都像真的，整个事件就一定真实发生了吗？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页｜声音合成器，参考了什么？</a:t>
            </a:r>
          </a:p>
          <a:p>
            <a:r>
              <a:t>建议用时：2 分钟</a:t>
            </a:r>
          </a:p>
          <a:p/>
          <a:p>
            <a:r>
              <a:t>可以让学生同一句‘欢迎来到科技课堂’分别用缓慢、轻快的节奏读一遍，体会声音有不同特点。不是让学生把录音交给模型。</a:t>
            </a:r>
          </a:p>
          <a:p>
            <a:r>
              <a:t>用简化解释：模型在大量已有数据中学到声音与文字的关系，推理时参考样本中的音色、发音与节奏，再生成新声音。并非每种声学特征都会被准确保留。</a:t>
            </a:r>
          </a:p>
          <a:p>
            <a:r>
              <a:t>不要说模型复制了人的大脑、思想或完整身份。此处是直观解释，不讲 Transformer、损失函数或数学细节。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页｜人脸动画，一帧接着一帧</a:t>
            </a:r>
          </a:p>
          <a:p>
            <a:r>
              <a:t>建议用时：2 分钟</a:t>
            </a:r>
          </a:p>
          <a:p/>
          <a:p>
            <a:r>
              <a:t>说明这三张脸是概念示意图，不是模型真实中间输出。让学生观察嘴巴和表情随时间变化。</a:t>
            </a:r>
          </a:p>
          <a:p>
            <a:r>
              <a:t>讲解：静态照片给出人物外观，声音或动作信息给出变化线索。模型生成一系列变化的画面，连续播放就形成动画。</a:t>
            </a:r>
          </a:p>
          <a:p>
            <a:r>
              <a:t>动画不是一段真实拍摄事件的证明。传统动画也会动，但 AI 能让它更接近真实人像。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页｜数字分身，就是另一个我吗？</a:t>
            </a:r>
          </a:p>
          <a:p>
            <a:r>
              <a:t>建议用时：2 分钟</a:t>
            </a:r>
          </a:p>
          <a:p/>
          <a:p>
            <a:r>
              <a:t>让学生先讨论 30 秒，再找两位回答。</a:t>
            </a:r>
          </a:p>
          <a:p>
            <a:r>
              <a:t>引导：它能模仿我的声音与外观，但一段相似的生成视频，不能单凭像我就证明我在场、我同意或者我确实说过。</a:t>
            </a:r>
          </a:p>
          <a:p>
            <a:r>
              <a:t>可选思考：AI 合成的科普知识一定是错的吗？真实拍摄的视频里说的话一定正确吗？画面是否合成与事情是否属实，是两个不同问题，都要看相应证据。</a:t>
            </a:r>
          </a:p>
          <a:p>
            <a:r>
              <a:t>这不是关于‘AI 有没有灵魂’的辩论；把思考落在证据和授权上。也避免说所有视频都是假的。</a:t>
            </a:r>
          </a:p>
          <a:p>
            <a:r>
              <a:t>串场：那我们能不能靠找破绽来一招验真？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页｜找破绽，有用但不够</a:t>
            </a:r>
          </a:p>
          <a:p>
            <a:r>
              <a:t>建议用时：3 分钟</a:t>
            </a:r>
          </a:p>
          <a:p/>
          <a:p>
            <a:r>
              <a:t>播放刚才的短片一次，问：你观察到什么？可提示嘴形与声音、脸部边缘、画面是否抖动。不要捏造视频里没有出现的缺陷。</a:t>
            </a:r>
          </a:p>
          <a:p>
            <a:r>
              <a:t>提醒：原始视频也可能因压缩、延迟、光照等出现异常；异常只能引起怀疑，不能一项就判定造假。</a:t>
            </a:r>
          </a:p>
          <a:p>
            <a:r>
              <a:t>反过来，没有看见异常也不能判真。眨眼、指定动作、口令或检测器分数都不是绝对验真法。</a:t>
            </a:r>
          </a:p>
          <a:p>
            <a:r>
              <a:t>课堂不用虚构检测准确率，也不拿无标注小样本演示‘检测器百分之百识别’。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页｜侦探任务：接下来该做什么？</a:t>
            </a:r>
          </a:p>
          <a:p>
            <a:r>
              <a:t>建议用时：4 分钟</a:t>
            </a:r>
          </a:p>
          <a:p/>
          <a:p>
            <a:r>
              <a:t>明确这是虚构情境，不是发生在某个同学家的真实案件。解释验证码是手机收到的一次性安全密码。</a:t>
            </a:r>
          </a:p>
          <a:p>
            <a:r>
              <a:t>情境：一个视频里的脸和声音都很像熟悉的家人，对方要求你发手机验证码，并叫你不要告诉别人。</a:t>
            </a:r>
          </a:p>
          <a:p>
            <a:r>
              <a:t>学生两三人讨论一分钟，选择 A/B/C 并说理由。不给他们观看实际冒充家人的合成视频。</a:t>
            </a:r>
          </a:p>
          <a:p>
            <a:r>
              <a:t>追问：如果你还不能确定视频真伪，能不能先决定不发验证码？可以。</a:t>
            </a:r>
          </a:p>
          <a:p>
            <a:r>
              <a:t>关键是安全行动和独立核实，不是考学生看破每个假视频。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页｜证据不够，也可以先做对的事</a:t>
            </a:r>
          </a:p>
          <a:p>
            <a:r>
              <a:t>建议用时：3 分钟</a:t>
            </a:r>
          </a:p>
          <a:p/>
          <a:p>
            <a:r>
              <a:t>建议选择 C。但最关键的原则是：验证码不转发，即使对方确实是熟人也一样。</a:t>
            </a:r>
          </a:p>
          <a:p>
            <a:r>
              <a:t>为什么 A 不够：相似的脸与声音并不能单独认证身份。为什么 B 不够：看不出破绽也不能证明真。</a:t>
            </a:r>
          </a:p>
          <a:p>
            <a:r>
              <a:t>如何核实：找身边可信任的大人，用早已保存的联系方式，或当面确认。不要用可疑视频刚提供的新号码，也不要只在同一个可疑聊天里问‘你是真的吗’。</a:t>
            </a:r>
          </a:p>
          <a:p>
            <a:r>
              <a:t>即使联系不到，也不用立即按对方要求行动。能说‘证据不足’就是有价值的判断。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页｜记住四个字：停、想、问、核</a:t>
            </a:r>
          </a:p>
          <a:p>
            <a:r>
              <a:t>建议用时：3 分钟</a:t>
            </a:r>
          </a:p>
          <a:p/>
          <a:p>
            <a:r>
              <a:t>让全班一起读四个字。</a:t>
            </a:r>
          </a:p>
          <a:p>
            <a:r>
              <a:t>停：先暂停转发、付款、发送验证码等动作。</a:t>
            </a:r>
          </a:p>
          <a:p>
            <a:r>
              <a:t>想：这条消息让我做什么？是否催促、保密或索要账号信息？</a:t>
            </a:r>
          </a:p>
          <a:p>
            <a:r>
              <a:t>问：找身边可信任的大人，不独自处理。</a:t>
            </a:r>
          </a:p>
          <a:p>
            <a:r>
              <a:t>核：用已知联系方式、当面或其他独立可信渠道核实。</a:t>
            </a:r>
          </a:p>
          <a:p>
            <a:r>
              <a:t>邀请学生把第 12 页的情境套进四步。区分‘再看一遍’和‘得到新的独立证据’。</a:t>
            </a:r>
          </a:p>
          <a:p>
            <a:r>
              <a:t>视频通话里让对方做动作只能增加线索，不应作为绝对保证。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页｜同一项技术，可以怎样帮助人？</a:t>
            </a:r>
          </a:p>
          <a:p>
            <a:r>
              <a:t>建议用时：2 分钟</a:t>
            </a:r>
          </a:p>
          <a:p/>
          <a:p>
            <a:r>
              <a:t>让学生把技术想成工具，提出有益用途。可讨论：协助失声者表达、给知识内容配多语言讲解、制作获授权的角色动画。这些是用途方向，不表示课堂这套模型已通过医疗用途验证。</a:t>
            </a:r>
          </a:p>
          <a:p>
            <a:r>
              <a:t>追问：如果把同学做成搞笑视频，即使好笑也可以直接发出去吗？讨论同意、尊重和传播后果。</a:t>
            </a:r>
          </a:p>
          <a:p>
            <a:r>
              <a:t>把结论说成可操作原则：用自己或明确授权的素材，清楚标注合成用途。不要把网络上可看到的照片当作别人已经同意。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页｜离堂挑战：带走三个答案</a:t>
            </a:r>
          </a:p>
          <a:p>
            <a:r>
              <a:t>建议用时：3 分钟</a:t>
            </a:r>
          </a:p>
          <a:p/>
          <a:p>
            <a:r>
              <a:t>每题给约 20 秒思考，再请学生回答理由。</a:t>
            </a:r>
          </a:p>
          <a:p>
            <a:r>
              <a:t>1. 视频里的人会眨眼，就一定是真的吗？答：不是，动作也能合成。</a:t>
            </a:r>
          </a:p>
          <a:p>
            <a:r>
              <a:t>2. 看不出视频破绽，下一步怎么办？答：不能仅凭这点判真，按消息要求的风险先暂停，再向大人求助，用已知可信渠道核实。</a:t>
            </a:r>
          </a:p>
          <a:p>
            <a:r>
              <a:t>3. 想把同学做成搞笑分身，可以直接发吗？答：不可以，应先取得明确同意、考虑尊重和传播后果，课堂不收集学生素材。</a:t>
            </a:r>
          </a:p>
          <a:p>
            <a:r>
              <a:t>评价目标：能否给出具体核实行动，而不是能否永远猜中真假。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页｜让科技有趣，让判断有依据</a:t>
            </a:r>
          </a:p>
          <a:p>
            <a:r>
              <a:t>建议用时：1 分钟</a:t>
            </a:r>
          </a:p>
          <a:p/>
          <a:p>
            <a:r>
              <a:t>收束：今天我们看见声音可以被生成，照片也能动起来。这些能力很有趣，但像某个人不等于证明那个人真实表达过。</a:t>
            </a:r>
          </a:p>
          <a:p>
            <a:r>
              <a:t>请全班再说一次：停、想、问、核。</a:t>
            </a:r>
          </a:p>
          <a:p>
            <a:r>
              <a:t>可选家庭小任务：回家教大人一个核实方法。不要要求学生制作同学分身或提交家人的照片、声音。</a:t>
            </a:r>
          </a:p>
          <a:p>
            <a:r>
              <a:t>结束，不在课堂展示后面的教师技术附录。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页｜教师附录：演示制作顺序</a:t>
            </a:r>
          </a:p>
          <a:p>
            <a:r>
              <a:t>建议用时：0 分钟</a:t>
            </a:r>
          </a:p>
          <a:p/>
          <a:p>
            <a:r>
              <a:t>本页不计入 40 分钟课堂。详细命令见根目录 README.md。</a:t>
            </a:r>
          </a:p>
          <a:p>
            <a:r>
              <a:t>素材：本人 8–10 秒参考语音 + 准确逐字稿；同台词测试原声；正面照；可选 5–8 秒动作视频。</a:t>
            </a:r>
          </a:p>
          <a:p>
            <a:r>
              <a:t>顺序：F5-TTS 生成 01_voice_ai.wav；SadTalker 使用照片和该音频生成 02_talking_ai.mp4；可选 LivePortrait 生成 03_motion_ai.mp4。</a:t>
            </a:r>
          </a:p>
          <a:p>
            <a:r>
              <a:t>Mac 上视频提前生成。现场仅尝试已在该机器上成功演练的短句语音推理；超过约 20 秒切换课前素材。</a:t>
            </a:r>
          </a:p>
          <a:p>
            <a:r>
              <a:t>所有模型首次下载、环境安装与素材嵌入都安排在课前。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页｜教师附录：Mac 能力边界</a:t>
            </a:r>
          </a:p>
          <a:p>
            <a:r>
              <a:t>建议用时：0 分钟</a:t>
            </a:r>
          </a:p>
          <a:p/>
          <a:p>
            <a:r>
              <a:t>苹果芯片 Mac：F5-TTS 官方有安装路径，代码支持 MPS；LivePortrait 官方有人像模式 Mac 支持，但提示可能明显慢于高端 NVIDIA GPU。</a:t>
            </a:r>
          </a:p>
          <a:p>
            <a:r>
              <a:t>SadTalker 当前 inference.py 只判断 CUDA / CPU，本方案在 Mac 明确使用 CPU，不能称为 MPS 加速。</a:t>
            </a:r>
          </a:p>
          <a:p>
            <a:r>
              <a:t>未在用户 Mac 上实测。不能承诺实时视频生成、具体耗时或一键安装成功。</a:t>
            </a:r>
          </a:p>
          <a:p>
            <a:r>
              <a:t>许可证：F5-TTS 代码 MIT，官方权重 CC-BY-NC-4.0；SadTalker 主项目 Apache-2.0，组件另有条款；LivePortrait 代码 MIT，但随附 InsightFace 模型限非商业研究。教学用途不自动覆盖所有模型授权情形。</a:t>
            </a:r>
          </a:p>
          <a:p>
            <a:r>
              <a:t>项目源码已下载，真人素材、权重及实际推理结果尚缺。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20 页｜教师附录：项目与资料来源</a:t>
            </a:r>
          </a:p>
          <a:p>
            <a:r>
              <a:t>建议用时：0 分钟</a:t>
            </a:r>
          </a:p>
          <a:p/>
          <a:p>
            <a:r>
              <a:t>来源核对日期：2026-10-14。链接均为项目官方仓库、官方文档或模型卡。</a:t>
            </a:r>
          </a:p>
          <a:p>
            <a:r>
              <a:t>F5-TTS：https://github.com/SWivid/F5-TTS；https://huggingface.co/SWivid/F5-TTS</a:t>
            </a:r>
          </a:p>
          <a:p>
            <a:r>
              <a:t>SadTalker：https://github.com/OpenTalker/SadTalker；Mac 安装记录：https://github.com/OpenTalker/SadTalker/blob/main/docs/install.md</a:t>
            </a:r>
          </a:p>
          <a:p>
            <a:r>
              <a:t>LivePortrait：https://github.com/KlingAIResearch/LivePortrait；许可证：https://github.com/KlingAIResearch/LivePortrait/blob/main/LICENSE</a:t>
            </a:r>
          </a:p>
          <a:p>
            <a:r>
              <a:t>备选项目和未优先选用原因见 README.md。源码版本标识见 projects/SOURCES.json。</a:t>
            </a:r>
          </a:p>
          <a:p>
            <a:r>
              <a:t>本课的原理图是面向六年级的简化示意，不是模型架构图或真实中间张量可视化。PDF 与缩略图由同一版面数据生成，不是 PowerPoint 渲染截图。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谁在说话？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965960"/>
            <a:ext cx="6477000" cy="182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451"/>
              </a:lnSpc>
              <a:spcBef>
                <a:spcPts val="0"/>
              </a:spcBef>
              <a:spcAft>
                <a:spcPts val="0"/>
              </a:spcAft>
            </a:pPr>
            <a:r>
              <a:rPr sz="5040" b="1">
                <a:solidFill>
                  <a:srgbClr val="F1F4F7"/>
                </a:solidFill>
                <a:latin typeface="PingFang SC"/>
                <a:ea typeface="PingFang SC"/>
              </a:rPr>
              <a:t>当声音和脸</a:t>
            </a:r>
          </a:p>
          <a:p>
            <a:pPr algn="l">
              <a:lnSpc>
                <a:spcPts val="6451"/>
              </a:lnSpc>
              <a:spcBef>
                <a:spcPts val="0"/>
              </a:spcBef>
              <a:spcAft>
                <a:spcPts val="0"/>
              </a:spcAft>
            </a:pPr>
            <a:r>
              <a:rPr sz="5040" b="1">
                <a:solidFill>
                  <a:srgbClr val="F1F4F7"/>
                </a:solidFill>
                <a:latin typeface="PingFang SC"/>
                <a:ea typeface="PingFang SC"/>
              </a:rPr>
              <a:t>都可以被模仿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4190999"/>
            <a:ext cx="6248400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25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B6C5D8"/>
                </a:solidFill>
                <a:latin typeface="PingFang SC"/>
                <a:ea typeface="PingFang SC"/>
              </a:rPr>
              <a:t>一场关于 AI、数字分身</a:t>
            </a:r>
          </a:p>
          <a:p>
            <a:pPr algn="l">
              <a:lnSpc>
                <a:spcPts val="3225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B6C5D8"/>
                </a:solidFill>
                <a:latin typeface="PingFang SC"/>
                <a:ea typeface="PingFang SC"/>
              </a:rPr>
              <a:t>与证据的科技侦探课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48600" y="1905000"/>
            <a:ext cx="3657600" cy="3581400"/>
          </a:xfrm>
          <a:prstGeom prst="roundRect">
            <a:avLst>
              <a:gd name="adj" fmla="val 5106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27389" y="3989070"/>
            <a:ext cx="1700022" cy="963929"/>
          </a:xfrm>
          <a:prstGeom prst="roundRect">
            <a:avLst>
              <a:gd name="adj" fmla="val 30909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11411" y="2280285"/>
            <a:ext cx="1331976" cy="1612391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0" y="2876169"/>
            <a:ext cx="122681" cy="122681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96475" y="2876169"/>
            <a:ext cx="122681" cy="122681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84614" y="3393186"/>
            <a:ext cx="385571" cy="297942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454640" y="2537460"/>
            <a:ext cx="190500" cy="190500"/>
          </a:xfrm>
          <a:prstGeom prst="roundRect">
            <a:avLst>
              <a:gd name="adj" fmla="val 8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8000" y="2842260"/>
            <a:ext cx="190500" cy="190500"/>
          </a:xfrm>
          <a:prstGeom prst="roundRect">
            <a:avLst>
              <a:gd name="adj" fmla="val 8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54640" y="3147060"/>
            <a:ext cx="190500" cy="190500"/>
          </a:xfrm>
          <a:prstGeom prst="roundRect">
            <a:avLst>
              <a:gd name="adj" fmla="val 8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68000" y="3451860"/>
            <a:ext cx="190500" cy="190500"/>
          </a:xfrm>
          <a:prstGeom prst="roundRect">
            <a:avLst>
              <a:gd name="adj" fmla="val 8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54640" y="3756660"/>
            <a:ext cx="190500" cy="190500"/>
          </a:xfrm>
          <a:prstGeom prst="roundRect">
            <a:avLst>
              <a:gd name="adj" fmla="val 8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68000" y="4061460"/>
            <a:ext cx="190500" cy="190500"/>
          </a:xfrm>
          <a:prstGeom prst="roundRect">
            <a:avLst>
              <a:gd name="adj" fmla="val 8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54640" y="4366260"/>
            <a:ext cx="190500" cy="190500"/>
          </a:xfrm>
          <a:prstGeom prst="roundRect">
            <a:avLst>
              <a:gd name="adj" fmla="val 8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151120"/>
            <a:ext cx="28956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11"/>
              </a:lnSpc>
              <a:spcBef>
                <a:spcPts val="0"/>
              </a:spcBef>
              <a:spcAft>
                <a:spcPts val="0"/>
              </a:spcAft>
            </a:pPr>
            <a:r>
              <a:rPr sz="2039" b="0">
                <a:solidFill>
                  <a:srgbClr val="DEF97D"/>
                </a:solidFill>
                <a:latin typeface="PingFang SC"/>
                <a:ea typeface="PingFang SC"/>
              </a:rPr>
              <a:t>相似，是证明吗？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60" y="5745480"/>
            <a:ext cx="6858000" cy="350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80DCE3"/>
                </a:solidFill>
                <a:latin typeface="PingFang SC"/>
                <a:ea typeface="PingFang SC"/>
              </a:rPr>
              <a:t>六年级 · 40 分钟 · 本课含明确揭晓的合成演示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今天，我们来当科技小侦探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6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80DCE3"/>
                </a:solidFill>
                <a:latin typeface="PingFang SC"/>
                <a:ea typeface="PingFang SC"/>
              </a:rPr>
              <a:t>任务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6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听一听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谁在说话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选择 A、B，或不确定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724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DEF97D"/>
                </a:solidFill>
                <a:latin typeface="PingFang SC"/>
                <a:ea typeface="PingFang SC"/>
              </a:rPr>
              <a:t>任务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24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拆一拆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分身怎么做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找出需要哪些输入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B39E"/>
                </a:solidFill>
                <a:latin typeface="PingFang SC"/>
                <a:ea typeface="PingFang SC"/>
              </a:rPr>
              <a:t>任务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想一想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怎样去核实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给出一个能执行的行动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1D32"/>
                </a:solidFill>
                <a:latin typeface="PingFang SC"/>
                <a:ea typeface="PingFang SC"/>
              </a:rPr>
              <a:t>侦探可以说：我还需要更多证据。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只听声音，你选哪一段？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133600"/>
            <a:ext cx="5318760" cy="2971800"/>
          </a:xfrm>
          <a:prstGeom prst="roundRect">
            <a:avLst>
              <a:gd name="adj" fmla="val 6153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2407920"/>
            <a:ext cx="470916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4079" b="1">
                <a:solidFill>
                  <a:srgbClr val="80DCE3"/>
                </a:solidFill>
                <a:latin typeface="PingFang SC"/>
                <a:ea typeface="PingFang SC"/>
              </a:rPr>
              <a:t>声音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6320" y="3749039"/>
            <a:ext cx="65314" cy="152400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37920" y="3643024"/>
            <a:ext cx="65314" cy="364430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9519" y="3701628"/>
            <a:ext cx="65314" cy="247223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41120" y="3578831"/>
            <a:ext cx="65314" cy="492817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42720" y="3614076"/>
            <a:ext cx="65314" cy="422326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44320" y="3569617"/>
            <a:ext cx="65314" cy="511245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45920" y="3520892"/>
            <a:ext cx="65314" cy="608695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47519" y="3618919"/>
            <a:ext cx="65314" cy="412641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49120" y="3458799"/>
            <a:ext cx="65314" cy="732880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50720" y="3707222"/>
            <a:ext cx="65314" cy="236035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52320" y="3452278"/>
            <a:ext cx="65314" cy="745923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53919" y="3698429"/>
            <a:ext cx="65314" cy="253620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55520" y="3503915"/>
            <a:ext cx="65314" cy="642648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57120" y="3638378"/>
            <a:ext cx="65314" cy="373722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58720" y="3593391"/>
            <a:ext cx="65314" cy="463696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3634453"/>
            <a:ext cx="65314" cy="381573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61920" y="3685480"/>
            <a:ext cx="65314" cy="279518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763519" y="3688292"/>
            <a:ext cx="65314" cy="273895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65120" y="3743928"/>
            <a:ext cx="65314" cy="162622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66720" y="3719297"/>
            <a:ext cx="65314" cy="211884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68320" y="3745732"/>
            <a:ext cx="65314" cy="159015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69920" y="3627708"/>
            <a:ext cx="65314" cy="395063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71519" y="3690201"/>
            <a:ext cx="65314" cy="270076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73120" y="3571003"/>
            <a:ext cx="65314" cy="508472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74720" y="3599231"/>
            <a:ext cx="65314" cy="452017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576320" y="3571427"/>
            <a:ext cx="65314" cy="507624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77920" y="3508675"/>
            <a:ext cx="65314" cy="633128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79519" y="3628719"/>
            <a:ext cx="65314" cy="393041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81120" y="3454226"/>
            <a:ext cx="65314" cy="742026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982720" y="3720217"/>
            <a:ext cx="65314" cy="210045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084320" y="3457353"/>
            <a:ext cx="65314" cy="735773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85919" y="3688292"/>
            <a:ext cx="65314" cy="273894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87520" y="3516844"/>
            <a:ext cx="65314" cy="616791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389120" y="3636026"/>
            <a:ext cx="65314" cy="378427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90719" y="3609287"/>
            <a:ext cx="65314" cy="431904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92320" y="3641745"/>
            <a:ext cx="65314" cy="366989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693920" y="3698290"/>
            <a:ext cx="65314" cy="253898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95519" y="3703290"/>
            <a:ext cx="65314" cy="243899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97120" y="3748815"/>
            <a:ext cx="65314" cy="152849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998720" y="3701569"/>
            <a:ext cx="65314" cy="247340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100320" y="3740981"/>
            <a:ext cx="65314" cy="168516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201919" y="3613300"/>
            <a:ext cx="65314" cy="423878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303520" y="3677897"/>
            <a:ext cx="65314" cy="294684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05120" y="3564660"/>
            <a:ext cx="65314" cy="521159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506720" y="3584434"/>
            <a:ext cx="65314" cy="481611"/>
          </a:xfrm>
          <a:prstGeom prst="roundRect">
            <a:avLst>
              <a:gd name="adj" fmla="val 35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5360" y="4556760"/>
            <a:ext cx="47091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B6C5D8"/>
                </a:solidFill>
                <a:latin typeface="PingFang SC"/>
                <a:ea typeface="PingFang SC"/>
              </a:rPr>
              <a:t>插入音频 · 听相同的一句话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02680" y="2133600"/>
            <a:ext cx="5318760" cy="2971800"/>
          </a:xfrm>
          <a:prstGeom prst="roundRect">
            <a:avLst>
              <a:gd name="adj" fmla="val 6153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07480" y="2407920"/>
            <a:ext cx="470916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4079" b="1">
                <a:solidFill>
                  <a:srgbClr val="DEF97D"/>
                </a:solidFill>
                <a:latin typeface="PingFang SC"/>
                <a:ea typeface="PingFang SC"/>
              </a:rPr>
              <a:t>声音 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68440" y="3749039"/>
            <a:ext cx="65314" cy="152400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670040" y="3643024"/>
            <a:ext cx="65314" cy="364430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771639" y="3701628"/>
            <a:ext cx="65314" cy="247223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873240" y="3578831"/>
            <a:ext cx="65314" cy="492817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974840" y="3614076"/>
            <a:ext cx="65314" cy="422326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076439" y="3569617"/>
            <a:ext cx="65314" cy="511245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178040" y="3520892"/>
            <a:ext cx="65314" cy="608695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279640" y="3618919"/>
            <a:ext cx="65314" cy="412641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381239" y="3458799"/>
            <a:ext cx="65314" cy="732880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482840" y="3707222"/>
            <a:ext cx="65314" cy="236035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584440" y="3452278"/>
            <a:ext cx="65314" cy="745923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686039" y="3698429"/>
            <a:ext cx="65314" cy="253620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87639" y="3503915"/>
            <a:ext cx="65314" cy="642648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889239" y="3638378"/>
            <a:ext cx="65314" cy="373722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990840" y="3593391"/>
            <a:ext cx="65314" cy="463696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092440" y="3634453"/>
            <a:ext cx="65314" cy="381573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194039" y="3685480"/>
            <a:ext cx="65314" cy="279518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295640" y="3688292"/>
            <a:ext cx="65314" cy="273895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397240" y="3743928"/>
            <a:ext cx="65314" cy="162622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498840" y="3719297"/>
            <a:ext cx="65314" cy="211884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600440" y="3745732"/>
            <a:ext cx="65314" cy="159015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702040" y="3627708"/>
            <a:ext cx="65314" cy="395063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803639" y="3690201"/>
            <a:ext cx="65314" cy="270076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905240" y="3571003"/>
            <a:ext cx="65314" cy="508472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006840" y="3599231"/>
            <a:ext cx="65314" cy="452017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108440" y="3571427"/>
            <a:ext cx="65314" cy="507624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9210040" y="3508675"/>
            <a:ext cx="65314" cy="633128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311640" y="3628719"/>
            <a:ext cx="65314" cy="393041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413240" y="3454226"/>
            <a:ext cx="65314" cy="742026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514840" y="3720217"/>
            <a:ext cx="65314" cy="210045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616440" y="3457353"/>
            <a:ext cx="65314" cy="735773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718039" y="3688292"/>
            <a:ext cx="65314" cy="273894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819640" y="3516844"/>
            <a:ext cx="65314" cy="616791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921240" y="3636026"/>
            <a:ext cx="65314" cy="378427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022840" y="3609287"/>
            <a:ext cx="65314" cy="431904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124440" y="3641745"/>
            <a:ext cx="65314" cy="366989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226040" y="3698290"/>
            <a:ext cx="65314" cy="253898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0327640" y="3703290"/>
            <a:ext cx="65314" cy="243899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0429240" y="3748815"/>
            <a:ext cx="65314" cy="152849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530840" y="3701569"/>
            <a:ext cx="65314" cy="247340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0632440" y="3740981"/>
            <a:ext cx="65314" cy="168516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0734039" y="3613300"/>
            <a:ext cx="65314" cy="423878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0835640" y="3677897"/>
            <a:ext cx="65314" cy="294684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937240" y="3564660"/>
            <a:ext cx="65314" cy="521159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1038839" y="3584434"/>
            <a:ext cx="65314" cy="481611"/>
          </a:xfrm>
          <a:prstGeom prst="roundRect">
            <a:avLst>
              <a:gd name="adj" fmla="val 35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07480" y="4556760"/>
            <a:ext cx="47091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B6C5D8"/>
                </a:solidFill>
                <a:latin typeface="PingFang SC"/>
                <a:ea typeface="PingFang SC"/>
              </a:rPr>
              <a:t>插入音频 · 听相同的一句话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95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101D32"/>
                </a:solidFill>
                <a:latin typeface="PingFang SC"/>
                <a:ea typeface="PingFang SC"/>
              </a:rPr>
              <a:t>A、B，还是证据不足？请说出你的理由。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揭晓：相似的声音可以生成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118360"/>
            <a:ext cx="5318760" cy="1905000"/>
          </a:xfrm>
          <a:prstGeom prst="roundRect">
            <a:avLst>
              <a:gd name="adj" fmla="val 96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02680" y="2118360"/>
            <a:ext cx="5318760" cy="1905000"/>
          </a:xfrm>
          <a:prstGeom prst="roundRect">
            <a:avLst>
              <a:gd name="adj" fmla="val 96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99" y="2407920"/>
            <a:ext cx="47244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54"/>
              </a:lnSpc>
              <a:spcBef>
                <a:spcPts val="0"/>
              </a:spcBef>
              <a:spcAft>
                <a:spcPts val="0"/>
              </a:spcAft>
            </a:pPr>
            <a:r>
              <a:rPr sz="3479" b="1">
                <a:solidFill>
                  <a:srgbClr val="80DCE3"/>
                </a:solidFill>
                <a:latin typeface="PingFang SC"/>
                <a:ea typeface="PingFang SC"/>
              </a:rPr>
              <a:t>A：原声录音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2720" y="2407920"/>
            <a:ext cx="47244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54"/>
              </a:lnSpc>
              <a:spcBef>
                <a:spcPts val="0"/>
              </a:spcBef>
              <a:spcAft>
                <a:spcPts val="0"/>
              </a:spcAft>
            </a:pPr>
            <a:r>
              <a:rPr sz="3479" b="1">
                <a:solidFill>
                  <a:srgbClr val="DEF97D"/>
                </a:solidFill>
                <a:latin typeface="PingFang SC"/>
                <a:ea typeface="PingFang SC"/>
              </a:rPr>
              <a:t>B：AI 合成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99" y="3276600"/>
            <a:ext cx="46482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220" b="0">
                <a:solidFill>
                  <a:srgbClr val="F1F4F7"/>
                </a:solidFill>
                <a:latin typeface="PingFang SC"/>
                <a:ea typeface="PingFang SC"/>
              </a:rPr>
              <a:t>老师读出这段话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2720" y="3276600"/>
            <a:ext cx="464820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220" b="0">
                <a:solidFill>
                  <a:srgbClr val="F1F4F7"/>
                </a:solidFill>
                <a:latin typeface="PingFang SC"/>
                <a:ea typeface="PingFang SC"/>
              </a:rPr>
              <a:t>模型生成这段话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495800"/>
            <a:ext cx="10668000" cy="716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9"/>
              </a:lnSpc>
              <a:spcBef>
                <a:spcPts val="0"/>
              </a:spcBef>
              <a:spcAft>
                <a:spcPts val="0"/>
              </a:spcAft>
            </a:pPr>
            <a:r>
              <a:rPr sz="2820" b="1">
                <a:solidFill>
                  <a:srgbClr val="F1F4F7"/>
                </a:solidFill>
                <a:latin typeface="PingFang SC"/>
                <a:ea typeface="PingFang SC"/>
              </a:rPr>
              <a:t>参考声音 + 新台词 → 相似音色的新声音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1D32"/>
                </a:solidFill>
                <a:latin typeface="PingFang SC"/>
                <a:ea typeface="PingFang SC"/>
              </a:rPr>
              <a:t>声音像老师 ≠ 这句话由老师本人说过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第二关：一张照片，开口了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087880"/>
            <a:ext cx="4343400" cy="3200400"/>
          </a:xfrm>
          <a:prstGeom prst="roundRect">
            <a:avLst>
              <a:gd name="adj" fmla="val 571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3440" y="2270760"/>
            <a:ext cx="76200" cy="2834640"/>
          </a:xfrm>
          <a:prstGeom prst="roundRect">
            <a:avLst>
              <a:gd name="adj" fmla="val 40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46960"/>
            <a:ext cx="371856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1F4F7"/>
                </a:solidFill>
                <a:latin typeface="PingFang SC"/>
                <a:ea typeface="PingFang SC"/>
              </a:rPr>
              <a:t>一张照片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371856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B6C5D8"/>
                </a:solidFill>
                <a:latin typeface="PingFang SC"/>
                <a:ea typeface="PingFang SC"/>
              </a:rPr>
              <a:t>替换成老师本人的正面照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7242" y="3870960"/>
            <a:ext cx="1034795" cy="586740"/>
          </a:xfrm>
          <a:prstGeom prst="roundRect">
            <a:avLst>
              <a:gd name="adj" fmla="val 30909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29256" y="2830830"/>
            <a:ext cx="810768" cy="981455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21280" y="3193542"/>
            <a:ext cx="74675" cy="74675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67990" y="3193542"/>
            <a:ext cx="74675" cy="74675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722626" y="3577590"/>
            <a:ext cx="224027" cy="0"/>
          </a:xfrm>
          <a:prstGeom prst="line">
            <a:avLst/>
          </a:prstGeom>
          <a:ln w="26670">
            <a:solidFill>
              <a:srgbClr val="101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04460" y="3200400"/>
            <a:ext cx="838200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912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DEF97D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680" y="2087880"/>
            <a:ext cx="5318760" cy="3200400"/>
          </a:xfrm>
          <a:prstGeom prst="roundRect">
            <a:avLst>
              <a:gd name="adj" fmla="val 571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85560" y="2270760"/>
            <a:ext cx="76200" cy="2834640"/>
          </a:xfrm>
          <a:prstGeom prst="roundRect">
            <a:avLst>
              <a:gd name="adj" fmla="val 40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346960"/>
            <a:ext cx="469392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1F4F7"/>
                </a:solidFill>
                <a:latin typeface="PingFang SC"/>
                <a:ea typeface="PingFang SC"/>
              </a:rPr>
              <a:t>会说话的照片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572000"/>
            <a:ext cx="469392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B6C5D8"/>
                </a:solidFill>
                <a:latin typeface="PingFang SC"/>
                <a:ea typeface="PingFang SC"/>
              </a:rPr>
              <a:t>插入预生成视频 · 保留 AI 合成标识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640" y="3467100"/>
            <a:ext cx="44196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360" b="1">
                <a:solidFill>
                  <a:srgbClr val="DEF97D"/>
                </a:solidFill>
                <a:latin typeface="PingFang SC"/>
                <a:ea typeface="PingFang SC"/>
              </a:rPr>
              <a:t>照片 + 音频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18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101D32"/>
                </a:solidFill>
                <a:latin typeface="PingFang SC"/>
                <a:ea typeface="PingFang SC"/>
              </a:rPr>
              <a:t>画面里的“我”，不一定是真实录下来的我。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第三关：你点头，照片也点头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087880"/>
            <a:ext cx="3474720" cy="3200400"/>
          </a:xfrm>
          <a:prstGeom prst="roundRect">
            <a:avLst>
              <a:gd name="adj" fmla="val 571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3440" y="2270760"/>
            <a:ext cx="76200" cy="2834640"/>
          </a:xfrm>
          <a:prstGeom prst="roundRect">
            <a:avLst>
              <a:gd name="adj" fmla="val 40000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46960"/>
            <a:ext cx="2849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1F4F7"/>
                </a:solidFill>
                <a:latin typeface="PingFang SC"/>
                <a:ea typeface="PingFang SC"/>
              </a:rPr>
              <a:t>输入照片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284988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B6C5D8"/>
                </a:solidFill>
                <a:latin typeface="PingFang SC"/>
                <a:ea typeface="PingFang SC"/>
              </a:rPr>
              <a:t>老师本人的肖像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3219" y="3989070"/>
            <a:ext cx="960882" cy="544830"/>
          </a:xfrm>
          <a:prstGeom prst="roundRect">
            <a:avLst>
              <a:gd name="adj" fmla="val 30909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37232" y="3023235"/>
            <a:ext cx="752855" cy="911352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15540" y="3360039"/>
            <a:ext cx="69342" cy="69342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37485" y="3360039"/>
            <a:ext cx="69342" cy="69342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509647" y="3716655"/>
            <a:ext cx="208025" cy="0"/>
          </a:xfrm>
          <a:prstGeom prst="line">
            <a:avLst/>
          </a:prstGeom>
          <a:ln w="24765">
            <a:solidFill>
              <a:srgbClr val="101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58640" y="2087880"/>
            <a:ext cx="3474720" cy="3200400"/>
          </a:xfrm>
          <a:prstGeom prst="roundRect">
            <a:avLst>
              <a:gd name="adj" fmla="val 571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41520" y="2270760"/>
            <a:ext cx="76200" cy="2834640"/>
          </a:xfrm>
          <a:prstGeom prst="roundRect">
            <a:avLst>
              <a:gd name="adj" fmla="val 40000"/>
            </a:avLst>
          </a:prstGeom>
          <a:solidFill>
            <a:srgbClr val="FFB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5360" y="2346960"/>
            <a:ext cx="2849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1F4F7"/>
                </a:solidFill>
                <a:latin typeface="PingFang SC"/>
                <a:ea typeface="PingFang SC"/>
              </a:rPr>
              <a:t>驱动动作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5360" y="4572000"/>
            <a:ext cx="284988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B6C5D8"/>
                </a:solidFill>
                <a:latin typeface="PingFang SC"/>
                <a:ea typeface="PingFang SC"/>
              </a:rPr>
              <a:t>点头、微笑、眨眼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1299" y="3989070"/>
            <a:ext cx="960882" cy="544830"/>
          </a:xfrm>
          <a:prstGeom prst="roundRect">
            <a:avLst>
              <a:gd name="adj" fmla="val 30909"/>
            </a:avLst>
          </a:prstGeom>
          <a:solidFill>
            <a:srgbClr val="FFB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25312" y="3023235"/>
            <a:ext cx="752855" cy="911352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03620" y="3360039"/>
            <a:ext cx="69342" cy="69342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5565" y="3360039"/>
            <a:ext cx="69342" cy="69342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92774" y="3652266"/>
            <a:ext cx="217932" cy="108966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2087880"/>
            <a:ext cx="3474720" cy="3200400"/>
          </a:xfrm>
          <a:prstGeom prst="roundRect">
            <a:avLst>
              <a:gd name="adj" fmla="val 571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2270760"/>
            <a:ext cx="76200" cy="2834640"/>
          </a:xfrm>
          <a:prstGeom prst="roundRect">
            <a:avLst>
              <a:gd name="adj" fmla="val 40000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3440" y="2346960"/>
            <a:ext cx="2849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1F4F7"/>
                </a:solidFill>
                <a:latin typeface="PingFang SC"/>
                <a:ea typeface="PingFang SC"/>
              </a:rPr>
              <a:t>生成结果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3440" y="4572000"/>
            <a:ext cx="284988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B6C5D8"/>
                </a:solidFill>
                <a:latin typeface="PingFang SC"/>
                <a:ea typeface="PingFang SC"/>
              </a:rPr>
              <a:t>照片跟着动起来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379" y="3989070"/>
            <a:ext cx="960882" cy="544830"/>
          </a:xfrm>
          <a:prstGeom prst="roundRect">
            <a:avLst>
              <a:gd name="adj" fmla="val 30909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13391" y="3023235"/>
            <a:ext cx="752855" cy="911352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91700" y="3360039"/>
            <a:ext cx="69342" cy="69342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13645" y="3360039"/>
            <a:ext cx="69342" cy="69342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80854" y="3652266"/>
            <a:ext cx="217932" cy="168402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11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101D32"/>
                </a:solidFill>
                <a:latin typeface="PingFang SC"/>
                <a:ea typeface="PingFang SC"/>
              </a:rPr>
              <a:t>这一关由动作视频驱动；不会自动按新声音对口型。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拆开魔术：两条合成流水线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087880"/>
            <a:ext cx="3672840" cy="1447800"/>
          </a:xfrm>
          <a:prstGeom prst="roundRect">
            <a:avLst>
              <a:gd name="adj" fmla="val 12631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98720" y="2087880"/>
            <a:ext cx="3002280" cy="1447800"/>
          </a:xfrm>
          <a:prstGeom prst="roundRect">
            <a:avLst>
              <a:gd name="adj" fmla="val 12631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56320" y="2087880"/>
            <a:ext cx="2865120" cy="1447800"/>
          </a:xfrm>
          <a:prstGeom prst="roundRect">
            <a:avLst>
              <a:gd name="adj" fmla="val 12631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920" y="2354580"/>
            <a:ext cx="327660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220" b="0">
                <a:solidFill>
                  <a:srgbClr val="F1F4F7"/>
                </a:solidFill>
                <a:latin typeface="PingFang SC"/>
                <a:ea typeface="PingFang SC"/>
              </a:rPr>
              <a:t>参考声音、逐字稿</a:t>
            </a:r>
          </a:p>
          <a:p>
            <a:pPr algn="l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220" b="0">
                <a:solidFill>
                  <a:srgbClr val="F1F4F7"/>
                </a:solidFill>
                <a:latin typeface="PingFang SC"/>
                <a:ea typeface="PingFang SC"/>
              </a:rPr>
              <a:t>+ 想说的新台词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9700" y="2545080"/>
            <a:ext cx="25755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45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80DCE3"/>
                </a:solidFill>
                <a:latin typeface="PingFang SC"/>
                <a:ea typeface="PingFang SC"/>
              </a:rPr>
              <a:t>声音合成器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9200" y="2545080"/>
            <a:ext cx="25146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45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80DCE3"/>
                </a:solidFill>
                <a:latin typeface="PingFang SC"/>
                <a:ea typeface="PingFang SC"/>
              </a:rPr>
              <a:t>合成声音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4360" y="2499360"/>
            <a:ext cx="53340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360" b="0">
                <a:solidFill>
                  <a:srgbClr val="B6C5D8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1960" y="2499360"/>
            <a:ext cx="53340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360" b="0">
                <a:solidFill>
                  <a:srgbClr val="B6C5D8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560" y="3749039"/>
            <a:ext cx="3672840" cy="1447800"/>
          </a:xfrm>
          <a:prstGeom prst="roundRect">
            <a:avLst>
              <a:gd name="adj" fmla="val 12631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98720" y="3749039"/>
            <a:ext cx="3002280" cy="1447800"/>
          </a:xfrm>
          <a:prstGeom prst="roundRect">
            <a:avLst>
              <a:gd name="adj" fmla="val 12631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56320" y="3749039"/>
            <a:ext cx="2865120" cy="1447800"/>
          </a:xfrm>
          <a:prstGeom prst="roundRect">
            <a:avLst>
              <a:gd name="adj" fmla="val 12631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3920" y="4015740"/>
            <a:ext cx="327660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220" b="0">
                <a:solidFill>
                  <a:srgbClr val="F1F4F7"/>
                </a:solidFill>
                <a:latin typeface="PingFang SC"/>
                <a:ea typeface="PingFang SC"/>
              </a:rPr>
              <a:t>老师照片</a:t>
            </a:r>
          </a:p>
          <a:p>
            <a:pPr algn="l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220" b="0">
                <a:solidFill>
                  <a:srgbClr val="F1F4F7"/>
                </a:solidFill>
                <a:latin typeface="PingFang SC"/>
                <a:ea typeface="PingFang SC"/>
              </a:rPr>
              <a:t>+ 合成声音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9700" y="4206240"/>
            <a:ext cx="257556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45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DEF97D"/>
                </a:solidFill>
                <a:latin typeface="PingFang SC"/>
                <a:ea typeface="PingFang SC"/>
              </a:rPr>
              <a:t>人脸动画器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9200" y="4206240"/>
            <a:ext cx="25146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456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DEF97D"/>
                </a:solidFill>
                <a:latin typeface="PingFang SC"/>
                <a:ea typeface="PingFang SC"/>
              </a:rPr>
              <a:t>说话视频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4360" y="4160520"/>
            <a:ext cx="53340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360" b="0">
                <a:solidFill>
                  <a:srgbClr val="B6C5D8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1960" y="4160520"/>
            <a:ext cx="533400" cy="723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00"/>
              </a:lnSpc>
              <a:spcBef>
                <a:spcPts val="0"/>
              </a:spcBef>
              <a:spcAft>
                <a:spcPts val="0"/>
              </a:spcAft>
            </a:pPr>
            <a:r>
              <a:rPr sz="3360" b="0">
                <a:solidFill>
                  <a:srgbClr val="B6C5D8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95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101D32"/>
                </a:solidFill>
                <a:latin typeface="PingFang SC"/>
                <a:ea typeface="PingFang SC"/>
              </a:rPr>
              <a:t>用训练好的模型生成新内容，叫“推理”。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声音合成器，参考了什么？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6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80DCE3"/>
                </a:solidFill>
                <a:latin typeface="PingFang SC"/>
                <a:ea typeface="PingFang SC"/>
              </a:rPr>
              <a:t>线索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6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音色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听起来像谁？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724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DEF97D"/>
                </a:solidFill>
                <a:latin typeface="PingFang SC"/>
                <a:ea typeface="PingFang SC"/>
              </a:rPr>
              <a:t>线索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24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节奏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快慢、停顿怎样？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B39E"/>
                </a:solidFill>
                <a:latin typeface="PingFang SC"/>
                <a:ea typeface="PingFang SC"/>
              </a:rPr>
              <a:t>线索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发音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字词怎样被说出来？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1D32"/>
                </a:solidFill>
                <a:latin typeface="PingFang SC"/>
                <a:ea typeface="PingFang SC"/>
              </a:rPr>
              <a:t>参考声音特点，再生成新的声音。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人脸动画，一帧接着一帧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087880"/>
            <a:ext cx="3474720" cy="3200400"/>
          </a:xfrm>
          <a:prstGeom prst="roundRect">
            <a:avLst>
              <a:gd name="adj" fmla="val 571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60" y="2286000"/>
            <a:ext cx="2971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25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80DCE3"/>
                </a:solidFill>
                <a:latin typeface="PingFang SC"/>
                <a:ea typeface="PingFang SC"/>
              </a:rPr>
              <a:t>第 1 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7476" y="4261104"/>
            <a:ext cx="1300886" cy="737616"/>
          </a:xfrm>
          <a:prstGeom prst="roundRect">
            <a:avLst>
              <a:gd name="adj" fmla="val 30909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98294" y="2953512"/>
            <a:ext cx="1019251" cy="1233830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39696" y="3409492"/>
            <a:ext cx="93878" cy="93878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5560" y="3409492"/>
            <a:ext cx="93878" cy="93878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267102" y="3892296"/>
            <a:ext cx="281635" cy="0"/>
          </a:xfrm>
          <a:prstGeom prst="line">
            <a:avLst/>
          </a:prstGeom>
          <a:ln w="33528">
            <a:solidFill>
              <a:srgbClr val="101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58640" y="2087880"/>
            <a:ext cx="3474720" cy="3200400"/>
          </a:xfrm>
          <a:prstGeom prst="roundRect">
            <a:avLst>
              <a:gd name="adj" fmla="val 571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240" y="2286000"/>
            <a:ext cx="2971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25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DEF97D"/>
                </a:solidFill>
                <a:latin typeface="PingFang SC"/>
                <a:ea typeface="PingFang SC"/>
              </a:rPr>
              <a:t>第 2 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5556" y="4261104"/>
            <a:ext cx="1300886" cy="737616"/>
          </a:xfrm>
          <a:prstGeom prst="roundRect">
            <a:avLst>
              <a:gd name="adj" fmla="val 30909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86374" y="2953512"/>
            <a:ext cx="1019251" cy="1233830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27776" y="3409492"/>
            <a:ext cx="93878" cy="93878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3409492"/>
            <a:ext cx="93878" cy="93878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8476" y="3805123"/>
            <a:ext cx="295046" cy="195803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087880"/>
            <a:ext cx="3474720" cy="3200400"/>
          </a:xfrm>
          <a:prstGeom prst="roundRect">
            <a:avLst>
              <a:gd name="adj" fmla="val 571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286000"/>
            <a:ext cx="2971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25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DEF97D"/>
                </a:solidFill>
                <a:latin typeface="PingFang SC"/>
                <a:ea typeface="PingFang SC"/>
              </a:rPr>
              <a:t>第 3 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3636" y="4261104"/>
            <a:ext cx="1300886" cy="737616"/>
          </a:xfrm>
          <a:prstGeom prst="roundRect">
            <a:avLst>
              <a:gd name="adj" fmla="val 30909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74454" y="2953512"/>
            <a:ext cx="1019251" cy="1233830"/>
          </a:xfrm>
          <a:prstGeom prst="ellipse">
            <a:avLst/>
          </a:prstGeom>
          <a:solidFill>
            <a:srgbClr val="F1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15856" y="3409492"/>
            <a:ext cx="93878" cy="93878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51720" y="3409492"/>
            <a:ext cx="93878" cy="93878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36556" y="3805123"/>
            <a:ext cx="295046" cy="107289"/>
          </a:xfrm>
          <a:prstGeom prst="ellipse">
            <a:avLst/>
          </a:prstGeom>
          <a:solidFill>
            <a:srgbClr val="10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18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101D32"/>
                </a:solidFill>
                <a:latin typeface="PingFang SC"/>
                <a:ea typeface="PingFang SC"/>
              </a:rPr>
              <a:t>画面会动，不等于拍到了真实发生的事。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数字分身，就是另一个我吗？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133600"/>
            <a:ext cx="5318760" cy="3032760"/>
          </a:xfrm>
          <a:prstGeom prst="roundRect">
            <a:avLst>
              <a:gd name="adj" fmla="val 603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02680" y="2133600"/>
            <a:ext cx="5318760" cy="3032760"/>
          </a:xfrm>
          <a:prstGeom prst="roundRect">
            <a:avLst>
              <a:gd name="adj" fmla="val 603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360" y="2423160"/>
            <a:ext cx="4709160" cy="655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54"/>
              </a:lnSpc>
              <a:spcBef>
                <a:spcPts val="0"/>
              </a:spcBef>
              <a:spcAft>
                <a:spcPts val="0"/>
              </a:spcAft>
            </a:pPr>
            <a:r>
              <a:rPr sz="3479" b="1">
                <a:solidFill>
                  <a:srgbClr val="80DCE3"/>
                </a:solidFill>
                <a:latin typeface="PingFang SC"/>
                <a:ea typeface="PingFang SC"/>
              </a:rPr>
              <a:t>可以模仿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3337560"/>
            <a:ext cx="4709160" cy="144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2"/>
              </a:lnSpc>
              <a:spcBef>
                <a:spcPts val="0"/>
              </a:spcBef>
              <a:spcAft>
                <a:spcPts val="0"/>
              </a:spcAft>
            </a:pPr>
            <a:r>
              <a:rPr sz="2580" b="0">
                <a:solidFill>
                  <a:srgbClr val="F1F4F7"/>
                </a:solidFill>
                <a:latin typeface="PingFang SC"/>
                <a:ea typeface="PingFang SC"/>
              </a:rPr>
              <a:t>声音的特点</a:t>
            </a:r>
          </a:p>
          <a:p>
            <a:pPr algn="l">
              <a:lnSpc>
                <a:spcPts val="3302"/>
              </a:lnSpc>
              <a:spcBef>
                <a:spcPts val="0"/>
              </a:spcBef>
              <a:spcAft>
                <a:spcPts val="0"/>
              </a:spcAft>
            </a:pPr>
            <a:r>
              <a:rPr sz="2580" b="0">
                <a:solidFill>
                  <a:srgbClr val="F1F4F7"/>
                </a:solidFill>
                <a:latin typeface="PingFang SC"/>
                <a:ea typeface="PingFang SC"/>
              </a:rPr>
              <a:t>脸部的外观和动作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7480" y="2423160"/>
            <a:ext cx="4709160" cy="655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63"/>
              </a:lnSpc>
              <a:spcBef>
                <a:spcPts val="0"/>
              </a:spcBef>
              <a:spcAft>
                <a:spcPts val="0"/>
              </a:spcAft>
            </a:pPr>
            <a:r>
              <a:rPr sz="2940" b="1">
                <a:solidFill>
                  <a:srgbClr val="FFB39E"/>
                </a:solidFill>
                <a:latin typeface="PingFang SC"/>
                <a:ea typeface="PingFang SC"/>
              </a:rPr>
              <a:t>不能单凭相似证明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480" y="3337560"/>
            <a:ext cx="4709160" cy="144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2"/>
              </a:lnSpc>
              <a:spcBef>
                <a:spcPts val="0"/>
              </a:spcBef>
              <a:spcAft>
                <a:spcPts val="0"/>
              </a:spcAft>
            </a:pPr>
            <a:r>
              <a:rPr sz="2580" b="0">
                <a:solidFill>
                  <a:srgbClr val="F1F4F7"/>
                </a:solidFill>
                <a:latin typeface="PingFang SC"/>
                <a:ea typeface="PingFang SC"/>
              </a:rPr>
              <a:t>本人当时在场</a:t>
            </a:r>
          </a:p>
          <a:p>
            <a:pPr algn="l">
              <a:lnSpc>
                <a:spcPts val="3302"/>
              </a:lnSpc>
              <a:spcBef>
                <a:spcPts val="0"/>
              </a:spcBef>
              <a:spcAft>
                <a:spcPts val="0"/>
              </a:spcAft>
            </a:pPr>
            <a:r>
              <a:rPr sz="2580" b="0">
                <a:solidFill>
                  <a:srgbClr val="F1F4F7"/>
                </a:solidFill>
                <a:latin typeface="PingFang SC"/>
                <a:ea typeface="PingFang SC"/>
              </a:rPr>
              <a:t>本人说过、本人同意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95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101D32"/>
                </a:solidFill>
                <a:latin typeface="PingFang SC"/>
                <a:ea typeface="PingFang SC"/>
              </a:rPr>
              <a:t>它生成画面和声音；我们仍要核实事件。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找破绽，有用但不够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6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80DCE3"/>
                </a:solidFill>
                <a:latin typeface="PingFang SC"/>
                <a:ea typeface="PingFang SC"/>
              </a:rPr>
              <a:t>可以观察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6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嘴形与声音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有没有明显不同步？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724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80DCE3"/>
                </a:solidFill>
                <a:latin typeface="PingFang SC"/>
                <a:ea typeface="PingFang SC"/>
              </a:rPr>
              <a:t>可以观察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24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边缘与细节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有没有异常变形？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B39E"/>
                </a:solidFill>
                <a:latin typeface="PingFang SC"/>
                <a:ea typeface="PingFang SC"/>
              </a:rPr>
              <a:t>也要知道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真实视频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也可能异常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压缩、延迟都可能影响画面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FFB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18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101D32"/>
                </a:solidFill>
                <a:latin typeface="PingFang SC"/>
                <a:ea typeface="PingFang SC"/>
              </a:rPr>
              <a:t>有异常：值得核实。没异常：仍需要证据。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侦探任务：接下来该做什么？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1965960"/>
            <a:ext cx="10850880" cy="1371600"/>
          </a:xfrm>
          <a:prstGeom prst="roundRect">
            <a:avLst>
              <a:gd name="adj" fmla="val 13333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33600"/>
            <a:ext cx="10287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FFB39E"/>
                </a:solidFill>
                <a:latin typeface="PingFang SC"/>
                <a:ea typeface="PingFang SC"/>
              </a:rPr>
              <a:t>虚构情境 · 熟悉的脸，熟悉的声音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287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63"/>
              </a:lnSpc>
              <a:spcBef>
                <a:spcPts val="0"/>
              </a:spcBef>
              <a:spcAft>
                <a:spcPts val="0"/>
              </a:spcAft>
            </a:pPr>
            <a:r>
              <a:rPr sz="2940" b="1">
                <a:solidFill>
                  <a:srgbClr val="F1F4F7"/>
                </a:solidFill>
                <a:latin typeface="PingFang SC"/>
                <a:ea typeface="PingFang SC"/>
              </a:rPr>
              <a:t>“把手机验证码发给我，先别告诉别人。”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560" y="3596640"/>
            <a:ext cx="3474720" cy="1813560"/>
          </a:xfrm>
          <a:prstGeom prst="roundRect">
            <a:avLst>
              <a:gd name="adj" fmla="val 1008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3920" y="3764279"/>
            <a:ext cx="301752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54"/>
              </a:lnSpc>
              <a:spcBef>
                <a:spcPts val="0"/>
              </a:spcBef>
              <a:spcAft>
                <a:spcPts val="0"/>
              </a:spcAft>
            </a:pPr>
            <a:r>
              <a:rPr sz="3479" b="1">
                <a:solidFill>
                  <a:srgbClr val="FFB39E"/>
                </a:solidFill>
                <a:latin typeface="PingFang SC"/>
                <a:ea typeface="PingFang SC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920" y="4480560"/>
            <a:ext cx="3048000" cy="853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F4F7"/>
                </a:solidFill>
                <a:latin typeface="PingFang SC"/>
                <a:ea typeface="PingFang SC"/>
              </a:rPr>
              <a:t>看着像家人，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F4F7"/>
                </a:solidFill>
                <a:latin typeface="PingFang SC"/>
                <a:ea typeface="PingFang SC"/>
              </a:rPr>
              <a:t>立刻发给他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3596640"/>
            <a:ext cx="3474720" cy="1813560"/>
          </a:xfrm>
          <a:prstGeom prst="roundRect">
            <a:avLst>
              <a:gd name="adj" fmla="val 1008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764279"/>
            <a:ext cx="301752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54"/>
              </a:lnSpc>
              <a:spcBef>
                <a:spcPts val="0"/>
              </a:spcBef>
              <a:spcAft>
                <a:spcPts val="0"/>
              </a:spcAft>
            </a:pPr>
            <a:r>
              <a:rPr sz="3479" b="1">
                <a:solidFill>
                  <a:srgbClr val="80DCE3"/>
                </a:solidFill>
                <a:latin typeface="PingFang SC"/>
                <a:ea typeface="PingFang SC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480560"/>
            <a:ext cx="3048000" cy="853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F4F7"/>
                </a:solidFill>
                <a:latin typeface="PingFang SC"/>
                <a:ea typeface="PingFang SC"/>
              </a:rPr>
              <a:t>多看几遍嘴巴，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F4F7"/>
                </a:solidFill>
                <a:latin typeface="PingFang SC"/>
                <a:ea typeface="PingFang SC"/>
              </a:rPr>
              <a:t>没有破绽就发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596640"/>
            <a:ext cx="3474720" cy="1813560"/>
          </a:xfrm>
          <a:prstGeom prst="roundRect">
            <a:avLst>
              <a:gd name="adj" fmla="val 1008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0080" y="3764279"/>
            <a:ext cx="301752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54"/>
              </a:lnSpc>
              <a:spcBef>
                <a:spcPts val="0"/>
              </a:spcBef>
              <a:spcAft>
                <a:spcPts val="0"/>
              </a:spcAft>
            </a:pPr>
            <a:r>
              <a:rPr sz="3479" b="1">
                <a:solidFill>
                  <a:srgbClr val="DEF97D"/>
                </a:solidFill>
                <a:latin typeface="PingFang SC"/>
                <a:ea typeface="PingFang SC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0080" y="4480560"/>
            <a:ext cx="3048000" cy="853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F4F7"/>
                </a:solidFill>
                <a:latin typeface="PingFang SC"/>
                <a:ea typeface="PingFang SC"/>
              </a:rPr>
              <a:t>先不发，找可信任的大人，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1F4F7"/>
                </a:solidFill>
                <a:latin typeface="PingFang SC"/>
                <a:ea typeface="PingFang SC"/>
              </a:rPr>
              <a:t>用已知联系方式核实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1D32"/>
                </a:solidFill>
                <a:latin typeface="PingFang SC"/>
                <a:ea typeface="PingFang SC"/>
              </a:rPr>
              <a:t>现在不必急着判真假，先决定下一步。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证据不够，也可以先做对的事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2057400"/>
            <a:ext cx="1085088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376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DEF97D"/>
                </a:solidFill>
                <a:latin typeface="PingFang SC"/>
                <a:ea typeface="PingFang SC"/>
              </a:rPr>
              <a:t>选择 C：先不发送验证码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" y="3185160"/>
            <a:ext cx="3474720" cy="2209800"/>
          </a:xfrm>
          <a:prstGeom prst="roundRect">
            <a:avLst>
              <a:gd name="adj" fmla="val 8275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9160" y="3322320"/>
            <a:ext cx="301752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64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B39E"/>
                </a:solidFill>
                <a:latin typeface="PingFang SC"/>
                <a:ea typeface="PingFang SC"/>
              </a:rPr>
              <a:t>第一步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" y="3840480"/>
            <a:ext cx="301752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95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1F4F7"/>
                </a:solidFill>
                <a:latin typeface="PingFang SC"/>
                <a:ea typeface="PingFang SC"/>
              </a:rPr>
              <a:t>暂停操作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60" y="4907280"/>
            <a:ext cx="3017520" cy="441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6C5D8"/>
                </a:solidFill>
                <a:latin typeface="PingFang SC"/>
                <a:ea typeface="PingFang SC"/>
              </a:rPr>
              <a:t>验证码不转发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640" y="3185160"/>
            <a:ext cx="3474720" cy="2209800"/>
          </a:xfrm>
          <a:prstGeom prst="roundRect">
            <a:avLst>
              <a:gd name="adj" fmla="val 8275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3322320"/>
            <a:ext cx="301752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64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80DCE3"/>
                </a:solidFill>
                <a:latin typeface="PingFang SC"/>
                <a:ea typeface="PingFang SC"/>
              </a:rPr>
              <a:t>第二步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3840480"/>
            <a:ext cx="301752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95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1F4F7"/>
                </a:solidFill>
                <a:latin typeface="PingFang SC"/>
                <a:ea typeface="PingFang SC"/>
              </a:rPr>
              <a:t>找可信任</a:t>
            </a:r>
          </a:p>
          <a:p>
            <a:pPr algn="l">
              <a:lnSpc>
                <a:spcPts val="2995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1F4F7"/>
                </a:solidFill>
                <a:latin typeface="PingFang SC"/>
                <a:ea typeface="PingFang SC"/>
              </a:rPr>
              <a:t>的大人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240" y="4907280"/>
            <a:ext cx="3017520" cy="441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6C5D8"/>
                </a:solidFill>
                <a:latin typeface="PingFang SC"/>
                <a:ea typeface="PingFang SC"/>
              </a:rPr>
              <a:t>一起判断和处理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185160"/>
            <a:ext cx="3474720" cy="2209800"/>
          </a:xfrm>
          <a:prstGeom prst="roundRect">
            <a:avLst>
              <a:gd name="adj" fmla="val 8275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3322320"/>
            <a:ext cx="301752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64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DEF97D"/>
                </a:solidFill>
                <a:latin typeface="PingFang SC"/>
                <a:ea typeface="PingFang SC"/>
              </a:rPr>
              <a:t>第三步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40480"/>
            <a:ext cx="301752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95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1F4F7"/>
                </a:solidFill>
                <a:latin typeface="PingFang SC"/>
                <a:ea typeface="PingFang SC"/>
              </a:rPr>
              <a:t>换可信渠道</a:t>
            </a:r>
          </a:p>
          <a:p>
            <a:pPr algn="l">
              <a:lnSpc>
                <a:spcPts val="2995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1F4F7"/>
                </a:solidFill>
                <a:latin typeface="PingFang SC"/>
                <a:ea typeface="PingFang SC"/>
              </a:rPr>
              <a:t>核实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907280"/>
            <a:ext cx="3017520" cy="441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6C5D8"/>
                </a:solidFill>
                <a:latin typeface="PingFang SC"/>
                <a:ea typeface="PingFang SC"/>
              </a:rPr>
              <a:t>用早已知道的联系方式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18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101D32"/>
                </a:solidFill>
                <a:latin typeface="PingFang SC"/>
                <a:ea typeface="PingFang SC"/>
              </a:rPr>
              <a:t>视频真伪暂时不明，也不影响先保护自己。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记住四个字：停、想、问、核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133600"/>
            <a:ext cx="2552700" cy="3154679"/>
          </a:xfrm>
          <a:prstGeom prst="roundRect">
            <a:avLst>
              <a:gd name="adj" fmla="val 716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40" y="2407920"/>
            <a:ext cx="2186940" cy="160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366"/>
              </a:lnSpc>
              <a:spcBef>
                <a:spcPts val="0"/>
              </a:spcBef>
              <a:spcAft>
                <a:spcPts val="0"/>
              </a:spcAft>
            </a:pPr>
            <a:r>
              <a:rPr sz="8880" b="1">
                <a:solidFill>
                  <a:srgbClr val="FFB39E"/>
                </a:solidFill>
                <a:latin typeface="PingFang SC"/>
                <a:ea typeface="PingFang SC"/>
              </a:rPr>
              <a:t>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4419600"/>
            <a:ext cx="2186940" cy="746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34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F1F4F7"/>
                </a:solidFill>
                <a:latin typeface="PingFang SC"/>
                <a:ea typeface="PingFang SC"/>
              </a:rPr>
              <a:t>先暂停操作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6620" y="2133600"/>
            <a:ext cx="2552700" cy="3154679"/>
          </a:xfrm>
          <a:prstGeom prst="roundRect">
            <a:avLst>
              <a:gd name="adj" fmla="val 716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9500" y="2407920"/>
            <a:ext cx="2186940" cy="160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366"/>
              </a:lnSpc>
              <a:spcBef>
                <a:spcPts val="0"/>
              </a:spcBef>
              <a:spcAft>
                <a:spcPts val="0"/>
              </a:spcAft>
            </a:pPr>
            <a:r>
              <a:rPr sz="8880" b="1">
                <a:solidFill>
                  <a:srgbClr val="80DCE3"/>
                </a:solidFill>
                <a:latin typeface="PingFang SC"/>
                <a:ea typeface="PingFang SC"/>
              </a:rPr>
              <a:t>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500" y="4419600"/>
            <a:ext cx="2186940" cy="746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34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F1F4F7"/>
                </a:solidFill>
                <a:latin typeface="PingFang SC"/>
                <a:ea typeface="PingFang SC"/>
              </a:rPr>
              <a:t>他要我做什么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2680" y="2133600"/>
            <a:ext cx="2552700" cy="3154679"/>
          </a:xfrm>
          <a:prstGeom prst="roundRect">
            <a:avLst>
              <a:gd name="adj" fmla="val 716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5560" y="2407920"/>
            <a:ext cx="2186940" cy="160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366"/>
              </a:lnSpc>
              <a:spcBef>
                <a:spcPts val="0"/>
              </a:spcBef>
              <a:spcAft>
                <a:spcPts val="0"/>
              </a:spcAft>
            </a:pPr>
            <a:r>
              <a:rPr sz="8880" b="1">
                <a:solidFill>
                  <a:srgbClr val="80DCE3"/>
                </a:solidFill>
                <a:latin typeface="PingFang SC"/>
                <a:ea typeface="PingFang SC"/>
              </a:rPr>
              <a:t>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5560" y="4419600"/>
            <a:ext cx="2186940" cy="746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34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F1F4F7"/>
                </a:solidFill>
                <a:latin typeface="PingFang SC"/>
                <a:ea typeface="PingFang SC"/>
              </a:rPr>
              <a:t>找可信任的大人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8740" y="2133600"/>
            <a:ext cx="2552700" cy="3154679"/>
          </a:xfrm>
          <a:prstGeom prst="roundRect">
            <a:avLst>
              <a:gd name="adj" fmla="val 7164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1620" y="2407920"/>
            <a:ext cx="2186940" cy="160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366"/>
              </a:lnSpc>
              <a:spcBef>
                <a:spcPts val="0"/>
              </a:spcBef>
              <a:spcAft>
                <a:spcPts val="0"/>
              </a:spcAft>
            </a:pPr>
            <a:r>
              <a:rPr sz="8880" b="1">
                <a:solidFill>
                  <a:srgbClr val="DEF97D"/>
                </a:solidFill>
                <a:latin typeface="PingFang SC"/>
                <a:ea typeface="PingFang SC"/>
              </a:rPr>
              <a:t>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1620" y="4419600"/>
            <a:ext cx="2186940" cy="746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534"/>
              </a:lnSpc>
              <a:spcBef>
                <a:spcPts val="0"/>
              </a:spcBef>
              <a:spcAft>
                <a:spcPts val="0"/>
              </a:spcAft>
            </a:pPr>
            <a:r>
              <a:rPr sz="1980" b="0">
                <a:solidFill>
                  <a:srgbClr val="F1F4F7"/>
                </a:solidFill>
                <a:latin typeface="PingFang SC"/>
                <a:ea typeface="PingFang SC"/>
              </a:rPr>
              <a:t>换可信渠道确认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11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101D32"/>
                </a:solidFill>
                <a:latin typeface="PingFang SC"/>
                <a:ea typeface="PingFang SC"/>
              </a:rPr>
              <a:t>核实用已知渠道，别只跟着可疑消息里的新号码走。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同一项技术，可以怎样帮助人？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6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80DCE3"/>
                </a:solidFill>
                <a:latin typeface="PingFang SC"/>
                <a:ea typeface="PingFang SC"/>
              </a:rPr>
              <a:t>表达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6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让交流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多一种办法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怎样帮助需要的人？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724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DEF97D"/>
                </a:solidFill>
                <a:latin typeface="PingFang SC"/>
                <a:ea typeface="PingFang SC"/>
              </a:rPr>
              <a:t>知识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24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为讲解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配上多种语言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怎样让更多人听懂？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B39E"/>
                </a:solidFill>
                <a:latin typeface="PingFang SC"/>
                <a:ea typeface="PingFang SC"/>
              </a:rPr>
              <a:t>创作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制作获授权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的角色动画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怎样尊重被模仿的人？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72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1D32"/>
                </a:solidFill>
                <a:latin typeface="PingFang SC"/>
                <a:ea typeface="PingFang SC"/>
              </a:rPr>
              <a:t>先获得同意，再清楚标注合成用途。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离堂挑战：带走三个答案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6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80DCE3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6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会眨眼，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就一定真吗？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为什么？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724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DEF97D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24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看不出破绽，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下一步做什么？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给出一个具体行动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B39E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同学的分身，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可以直接发吗？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还需要考虑什么？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95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101D32"/>
                </a:solidFill>
                <a:latin typeface="PingFang SC"/>
                <a:ea typeface="PingFang SC"/>
              </a:rPr>
              <a:t>你不必永远猜中，但可以学会怎样核实。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科技小侦探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让科技有趣，让判断有依据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2133600"/>
            <a:ext cx="10850880" cy="1981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065"/>
              </a:lnSpc>
              <a:spcBef>
                <a:spcPts val="0"/>
              </a:spcBef>
              <a:spcAft>
                <a:spcPts val="0"/>
              </a:spcAft>
            </a:pPr>
            <a:r>
              <a:rPr sz="5520" b="1">
                <a:solidFill>
                  <a:srgbClr val="F1F4F7"/>
                </a:solidFill>
                <a:latin typeface="PingFang SC"/>
                <a:ea typeface="PingFang SC"/>
              </a:rPr>
              <a:t>眼见和耳听，</a:t>
            </a:r>
          </a:p>
          <a:p>
            <a:pPr algn="l">
              <a:lnSpc>
                <a:spcPts val="7065"/>
              </a:lnSpc>
              <a:spcBef>
                <a:spcPts val="0"/>
              </a:spcBef>
              <a:spcAft>
                <a:spcPts val="0"/>
              </a:spcAft>
            </a:pPr>
            <a:r>
              <a:rPr sz="5520" b="1">
                <a:solidFill>
                  <a:srgbClr val="F1F4F7"/>
                </a:solidFill>
                <a:latin typeface="PingFang SC"/>
                <a:ea typeface="PingFang SC"/>
              </a:rPr>
              <a:t>都要和证据做朋友。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4610100"/>
            <a:ext cx="108508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7"/>
              </a:lnSpc>
              <a:spcBef>
                <a:spcPts val="0"/>
              </a:spcBef>
              <a:spcAft>
                <a:spcPts val="0"/>
              </a:spcAft>
            </a:pPr>
            <a:r>
              <a:rPr sz="3240" b="0">
                <a:solidFill>
                  <a:srgbClr val="80DCE3"/>
                </a:solidFill>
                <a:latin typeface="PingFang SC"/>
                <a:ea typeface="PingFang SC"/>
              </a:rPr>
              <a:t>会使用 AI，也会核实信息。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DEF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101D32"/>
                </a:solidFill>
                <a:latin typeface="PingFang SC"/>
                <a:ea typeface="PingFang SC"/>
              </a:rPr>
              <a:t>停  ·  想  ·  问  ·  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科技小侦探 · 相似是线索，核实需要证据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教师附录 · 不投给学生的技术细节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教师附录：演示制作顺序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916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80DCE3"/>
                </a:solidFill>
                <a:latin typeface="PingFang SC"/>
                <a:ea typeface="PingFang SC"/>
              </a:rPr>
              <a:t>先完成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6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F5-TTS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声音克隆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参考录音 + 逐字稿 + 台词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724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DEF97D"/>
                </a:solidFill>
                <a:latin typeface="PingFang SC"/>
                <a:ea typeface="PingFang SC"/>
              </a:rPr>
              <a:t>主展示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24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SadTalker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照片说话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24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照片 + 上一步生成的声音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474720" cy="3048000"/>
          </a:xfrm>
          <a:prstGeom prst="roundRect">
            <a:avLst>
              <a:gd name="adj" fmla="val 6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301240"/>
            <a:ext cx="3017520" cy="4952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B39E"/>
                </a:solidFill>
                <a:latin typeface="PingFang SC"/>
                <a:ea typeface="PingFang SC"/>
              </a:rPr>
              <a:t>有余力再做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987040"/>
            <a:ext cx="3017520" cy="975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LivePortrait</a:t>
            </a:r>
          </a:p>
          <a:p>
            <a:pPr algn="l">
              <a:lnSpc>
                <a:spcPts val="3532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F1F4F7"/>
                </a:solidFill>
                <a:latin typeface="PingFang SC"/>
                <a:ea typeface="PingFang SC"/>
              </a:rPr>
              <a:t>动作迁移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175760"/>
            <a:ext cx="3017520" cy="883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照片 + 动作视频，非音频驱</a:t>
            </a:r>
          </a:p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B6C5D8"/>
                </a:solidFill>
                <a:latin typeface="PingFang SC"/>
                <a:ea typeface="PingFang SC"/>
              </a:rPr>
              <a:t>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80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18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101D32"/>
                </a:solidFill>
                <a:latin typeface="PingFang SC"/>
                <a:ea typeface="PingFang SC"/>
              </a:rPr>
              <a:t>稳定的课前短片 + 一次可选的现场短句演示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教师资料 · 课件中的真人音视频位置尚待填入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教师附录 · 安装和授权以原项目为准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教师附录：Mac 能力边界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087880"/>
            <a:ext cx="10850880" cy="883920"/>
          </a:xfrm>
          <a:prstGeom prst="roundRect">
            <a:avLst>
              <a:gd name="adj" fmla="val 20689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3920" y="2270760"/>
            <a:ext cx="27432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80DCE3"/>
                </a:solidFill>
                <a:latin typeface="PingFang SC"/>
                <a:ea typeface="PingFang SC"/>
              </a:rPr>
              <a:t>F5-TTS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2331720"/>
            <a:ext cx="73914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11"/>
              </a:lnSpc>
              <a:spcBef>
                <a:spcPts val="0"/>
              </a:spcBef>
              <a:spcAft>
                <a:spcPts val="0"/>
              </a:spcAft>
            </a:pPr>
            <a:r>
              <a:rPr sz="2039" b="0">
                <a:solidFill>
                  <a:srgbClr val="F1F4F7"/>
                </a:solidFill>
                <a:latin typeface="PingFang SC"/>
                <a:ea typeface="PingFang SC"/>
              </a:rPr>
              <a:t>苹果芯片 / MPS；先在你的 Mac 实际演练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560" y="3154679"/>
            <a:ext cx="10850880" cy="883920"/>
          </a:xfrm>
          <a:prstGeom prst="roundRect">
            <a:avLst>
              <a:gd name="adj" fmla="val 20689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3920" y="3337560"/>
            <a:ext cx="27432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DEF97D"/>
                </a:solidFill>
                <a:latin typeface="PingFang SC"/>
                <a:ea typeface="PingFang SC"/>
              </a:rPr>
              <a:t>SadTalker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398520"/>
            <a:ext cx="73914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11"/>
              </a:lnSpc>
              <a:spcBef>
                <a:spcPts val="0"/>
              </a:spcBef>
              <a:spcAft>
                <a:spcPts val="0"/>
              </a:spcAft>
            </a:pPr>
            <a:r>
              <a:rPr sz="2039" b="0">
                <a:solidFill>
                  <a:srgbClr val="F1F4F7"/>
                </a:solidFill>
                <a:latin typeface="PingFang SC"/>
                <a:ea typeface="PingFang SC"/>
              </a:rPr>
              <a:t>Mac 走 CPU；声音驱动；课前生成视频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60" y="4221480"/>
            <a:ext cx="10850880" cy="883920"/>
          </a:xfrm>
          <a:prstGeom prst="roundRect">
            <a:avLst>
              <a:gd name="adj" fmla="val 20689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920" y="4404360"/>
            <a:ext cx="274320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79"/>
              </a:lnSpc>
              <a:spcBef>
                <a:spcPts val="0"/>
              </a:spcBef>
              <a:spcAft>
                <a:spcPts val="0"/>
              </a:spcAft>
            </a:pPr>
            <a:r>
              <a:rPr sz="2640" b="1">
                <a:solidFill>
                  <a:srgbClr val="FFB39E"/>
                </a:solidFill>
                <a:latin typeface="PingFang SC"/>
                <a:ea typeface="PingFang SC"/>
              </a:rPr>
              <a:t>LivePortrait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465320"/>
            <a:ext cx="73914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11"/>
              </a:lnSpc>
              <a:spcBef>
                <a:spcPts val="0"/>
              </a:spcBef>
              <a:spcAft>
                <a:spcPts val="0"/>
              </a:spcAft>
            </a:pPr>
            <a:r>
              <a:rPr sz="2039" b="0">
                <a:solidFill>
                  <a:srgbClr val="F1F4F7"/>
                </a:solidFill>
                <a:latin typeface="PingFang SC"/>
                <a:ea typeface="PingFang SC"/>
              </a:rPr>
              <a:t>苹果芯片人像模式；动作驱动；不自动对音频口型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60" y="5547360"/>
            <a:ext cx="10850880" cy="655320"/>
          </a:xfrm>
          <a:prstGeom prst="roundRect">
            <a:avLst>
              <a:gd name="adj" fmla="val 23255"/>
            </a:avLst>
          </a:prstGeom>
          <a:solidFill>
            <a:srgbClr val="FFB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3920" y="5669280"/>
            <a:ext cx="104241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4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01D32"/>
                </a:solidFill>
                <a:latin typeface="PingFang SC"/>
                <a:ea typeface="PingFang SC"/>
              </a:rPr>
              <a:t>代码许可与模型许可分开看；本套未做你的 Mac 推理实测。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教师资料 · 课件中的真人音视频位置尚待填入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81000"/>
            <a:ext cx="10850880" cy="335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DEF97D"/>
                </a:solidFill>
                <a:latin typeface="PingFang SC"/>
                <a:ea typeface="PingFang SC"/>
              </a:rPr>
              <a:t>教师附录 · 官方来源 · 2026-10-14 核对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868680"/>
            <a:ext cx="1085088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840" b="1">
                <a:solidFill>
                  <a:srgbClr val="F1F4F7"/>
                </a:solidFill>
                <a:latin typeface="PingFang SC"/>
                <a:ea typeface="PingFang SC"/>
              </a:rPr>
              <a:t>教师附录：项目与资料来源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1950720"/>
            <a:ext cx="10850880" cy="1219200"/>
          </a:xfrm>
          <a:prstGeom prst="roundRect">
            <a:avLst>
              <a:gd name="adj" fmla="val 15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3920" y="2057400"/>
            <a:ext cx="10424160" cy="4724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64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80DCE3"/>
                </a:solidFill>
                <a:latin typeface="PingFang SC"/>
                <a:ea typeface="PingFang SC"/>
              </a:rPr>
              <a:t>F5-TTS · 官方代码与模型卡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3920" y="2537460"/>
            <a:ext cx="1042416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4F7"/>
                </a:solidFill>
                <a:latin typeface="PingFang SC"/>
                <a:ea typeface="PingFang SC"/>
              </a:rPr>
              <a:t>https://github.com/SWivid/F5-TTS</a:t>
            </a:r>
          </a:p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4F7"/>
                </a:solidFill>
                <a:latin typeface="PingFang SC"/>
                <a:ea typeface="PingFang SC"/>
              </a:rPr>
              <a:t>https://huggingface.co/SWivid/F5-TTS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560" y="3322320"/>
            <a:ext cx="10850880" cy="1219200"/>
          </a:xfrm>
          <a:prstGeom prst="roundRect">
            <a:avLst>
              <a:gd name="adj" fmla="val 15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3920" y="3429000"/>
            <a:ext cx="10424160" cy="4724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64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DEF97D"/>
                </a:solidFill>
                <a:latin typeface="PingFang SC"/>
                <a:ea typeface="PingFang SC"/>
              </a:rPr>
              <a:t>SadTalker · 官方代码与 Mac 安装说明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920" y="3909060"/>
            <a:ext cx="1042416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4F7"/>
                </a:solidFill>
                <a:latin typeface="PingFang SC"/>
                <a:ea typeface="PingFang SC"/>
              </a:rPr>
              <a:t>https://github.com/OpenTalker/SadTalker</a:t>
            </a:r>
          </a:p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4F7"/>
                </a:solidFill>
                <a:latin typeface="PingFang SC"/>
                <a:ea typeface="PingFang SC"/>
              </a:rPr>
              <a:t>https://github.com/OpenTalker/SadTalker/blob/main/docs/install.md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60" y="4693920"/>
            <a:ext cx="10850880" cy="1219200"/>
          </a:xfrm>
          <a:prstGeom prst="roundRect">
            <a:avLst>
              <a:gd name="adj" fmla="val 15000"/>
            </a:avLst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920" y="4800600"/>
            <a:ext cx="10424160" cy="4724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64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80DCE3"/>
                </a:solidFill>
                <a:latin typeface="PingFang SC"/>
                <a:ea typeface="PingFang SC"/>
              </a:rPr>
              <a:t>LivePortrait · 官方代码与组件许可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20" y="5280660"/>
            <a:ext cx="10424160" cy="579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4F7"/>
                </a:solidFill>
                <a:latin typeface="PingFang SC"/>
                <a:ea typeface="PingFang SC"/>
              </a:rPr>
              <a:t>https://github.com/KlingAIResearch/LivePortrait</a:t>
            </a:r>
          </a:p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1F4F7"/>
                </a:solidFill>
                <a:latin typeface="PingFang SC"/>
                <a:ea typeface="PingFang SC"/>
              </a:rPr>
              <a:t>https://github.com/KlingAIResearch/LivePortrait/blob/main/LICENSE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0560" y="6408420"/>
            <a:ext cx="10850880" cy="0"/>
          </a:xfrm>
          <a:prstGeom prst="line">
            <a:avLst/>
          </a:prstGeom>
          <a:ln w="11429">
            <a:solidFill>
              <a:srgbClr val="31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70560" y="6522720"/>
            <a:ext cx="960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B6C5D8"/>
                </a:solidFill>
                <a:latin typeface="PingFang SC"/>
                <a:ea typeface="PingFang SC"/>
              </a:rPr>
              <a:t>教师资料 · 课件中的真人音视频位置尚待填入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7000"/>
            <a:ext cx="1097280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B6C5D8"/>
                </a:solidFill>
                <a:latin typeface="PingFang SC"/>
                <a:ea typeface="PingFang SC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谁在说话？——六年级 AI 数字分身科技课</dc:title>
  <dc:subject>40 分钟 · 声音合成、人像动画与信息核实</dc:subject>
  <dc:creator>科技展示课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